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66" r:id="rId3"/>
    <p:sldId id="264" r:id="rId4"/>
    <p:sldId id="265" r:id="rId5"/>
    <p:sldId id="257" r:id="rId6"/>
    <p:sldId id="258" r:id="rId7"/>
    <p:sldId id="259" r:id="rId8"/>
    <p:sldId id="260" r:id="rId9"/>
    <p:sldId id="262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EC\Downloads\TechVision_dataset%20for%20dashboad%20mak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EC\Downloads\TechVision_dataset%20for%20dashboad%20mak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EC\Downloads\TechVision_dataset%20for%20dashboad%20mak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[TechVision_dataset for dashboad making.xlsx]Pivot_Table!PivotTable6</c:name>
    <c:fmtId val="46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tint val="97000"/>
                  <a:satMod val="115000"/>
                  <a:lumMod val="114000"/>
                </a:schemeClr>
              </a:gs>
              <a:gs pos="60000">
                <a:schemeClr val="accent2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2">
                  <a:shade val="91000"/>
                  <a:satMod val="100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97000"/>
                    <a:satMod val="115000"/>
                    <a:lumMod val="114000"/>
                  </a:schemeClr>
                </a:gs>
                <a:gs pos="60000">
                  <a:schemeClr val="accent2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2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2">
                  <a:tint val="97000"/>
                  <a:satMod val="115000"/>
                  <a:lumMod val="114000"/>
                </a:schemeClr>
              </a:gs>
              <a:gs pos="60000">
                <a:schemeClr val="accent2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2">
                  <a:shade val="91000"/>
                  <a:satMod val="100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tint val="97000"/>
                    <a:satMod val="115000"/>
                    <a:lumMod val="114000"/>
                  </a:schemeClr>
                </a:gs>
                <a:gs pos="60000">
                  <a:schemeClr val="accent4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4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2">
                  <a:tint val="97000"/>
                  <a:satMod val="115000"/>
                  <a:lumMod val="114000"/>
                </a:schemeClr>
              </a:gs>
              <a:gs pos="60000">
                <a:schemeClr val="accent2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2">
                  <a:shade val="91000"/>
                  <a:satMod val="100000"/>
                </a:schemeClr>
              </a:gs>
            </a:gsLst>
            <a:lin ang="5400000" scaled="0"/>
          </a:gradFill>
          <a:ln w="34925" cap="rnd">
            <a:solidFill>
              <a:schemeClr val="accent4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tint val="97000"/>
                    <a:satMod val="115000"/>
                    <a:lumMod val="114000"/>
                  </a:schemeClr>
                </a:gs>
                <a:gs pos="60000">
                  <a:schemeClr val="accent4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4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2">
                  <a:tint val="97000"/>
                  <a:satMod val="115000"/>
                  <a:lumMod val="114000"/>
                </a:schemeClr>
              </a:gs>
              <a:gs pos="60000">
                <a:schemeClr val="accent2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2">
                  <a:shade val="91000"/>
                  <a:satMod val="100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97000"/>
                    <a:satMod val="115000"/>
                    <a:lumMod val="114000"/>
                  </a:schemeClr>
                </a:gs>
                <a:gs pos="60000">
                  <a:schemeClr val="accent2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2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2">
                  <a:tint val="97000"/>
                  <a:satMod val="115000"/>
                  <a:lumMod val="114000"/>
                </a:schemeClr>
              </a:gs>
              <a:gs pos="60000">
                <a:schemeClr val="accent2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2">
                  <a:shade val="91000"/>
                  <a:satMod val="100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tint val="97000"/>
                    <a:satMod val="115000"/>
                    <a:lumMod val="114000"/>
                  </a:schemeClr>
                </a:gs>
                <a:gs pos="60000">
                  <a:schemeClr val="accent4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4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2">
                  <a:tint val="97000"/>
                  <a:satMod val="115000"/>
                  <a:lumMod val="114000"/>
                </a:schemeClr>
              </a:gs>
              <a:gs pos="60000">
                <a:schemeClr val="accent2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2">
                  <a:shade val="91000"/>
                  <a:satMod val="100000"/>
                </a:schemeClr>
              </a:gs>
            </a:gsLst>
            <a:lin ang="5400000" scaled="0"/>
          </a:gradFill>
          <a:ln w="34925" cap="rnd">
            <a:solidFill>
              <a:schemeClr val="accent4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tint val="97000"/>
                    <a:satMod val="115000"/>
                    <a:lumMod val="114000"/>
                  </a:schemeClr>
                </a:gs>
                <a:gs pos="60000">
                  <a:schemeClr val="accent4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4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/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rgbClr r="0" g="0" b="0">
                <a:satMod val="30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97000"/>
                    <a:satMod val="115000"/>
                    <a:lumMod val="114000"/>
                  </a:schemeClr>
                </a:gs>
                <a:gs pos="60000">
                  <a:schemeClr val="accent2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2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/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rgbClr r="0" g="0" b="0">
                <a:satMod val="30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tint val="97000"/>
                    <a:satMod val="115000"/>
                    <a:lumMod val="114000"/>
                  </a:schemeClr>
                </a:gs>
                <a:gs pos="60000">
                  <a:schemeClr val="accent4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4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4"/>
            </a:solidFill>
            <a:round/>
          </a:ln>
          <a:effectLst/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rgbClr r="0" g="0" b="0">
                <a:satMod val="300000"/>
              </a:scrgbClr>
            </a:contourClr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tint val="97000"/>
                    <a:satMod val="115000"/>
                    <a:lumMod val="114000"/>
                  </a:schemeClr>
                </a:gs>
                <a:gs pos="60000">
                  <a:schemeClr val="accent4">
                    <a:tint val="100000"/>
                    <a:shade val="96000"/>
                    <a:satMod val="100000"/>
                    <a:lumMod val="108000"/>
                  </a:schemeClr>
                </a:gs>
                <a:gs pos="100000">
                  <a:schemeClr val="accent4">
                    <a:shade val="91000"/>
                    <a:satMod val="100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4800000"/>
              </a:lightRig>
            </a:scene3d>
            <a:sp3d>
              <a:bevelT w="508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Pivot_Table!$N$10</c:f>
              <c:strCache>
                <c:ptCount val="1"/>
                <c:pt idx="0">
                  <c:v>Sum of Profit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tint val="97000"/>
                      <a:satMod val="115000"/>
                      <a:lumMod val="114000"/>
                    </a:schemeClr>
                  </a:gs>
                  <a:gs pos="60000">
                    <a:schemeClr val="accent2">
                      <a:tint val="100000"/>
                      <a:shade val="96000"/>
                      <a:satMod val="100000"/>
                      <a:lumMod val="108000"/>
                    </a:schemeClr>
                  </a:gs>
                  <a:gs pos="100000">
                    <a:schemeClr val="accent2">
                      <a:shade val="91000"/>
                      <a:satMod val="100000"/>
                    </a:schemeClr>
                  </a:gs>
                </a:gsLst>
                <a:lin ang="16200000" scaled="0"/>
              </a:gradFill>
              <a:ln w="9525">
                <a:solidFill>
                  <a:schemeClr val="accent2"/>
                </a:solidFill>
                <a:round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4800000"/>
                </a:lightRig>
              </a:scene3d>
              <a:sp3d>
                <a:bevelT w="50800" h="25400"/>
              </a:sp3d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60-4785-8B43-7C2CBA2BC08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60-4785-8B43-7C2CBA2BC08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60-4785-8B43-7C2CBA2BC08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60-4785-8B43-7C2CBA2BC08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460-4785-8B43-7C2CBA2BC0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460-4785-8B43-7C2CBA2BC08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460-4785-8B43-7C2CBA2BC08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460-4785-8B43-7C2CBA2BC0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460-4785-8B43-7C2CBA2BC0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Pivot_Table!$M$11:$M$23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Pivot_Table!$N$11:$N$23</c:f>
              <c:numCache>
                <c:formatCode>"₹"#,##0_);[Red]\("₹"#,##0\)</c:formatCode>
                <c:ptCount val="12"/>
                <c:pt idx="0">
                  <c:v>847200.94999999984</c:v>
                </c:pt>
                <c:pt idx="1">
                  <c:v>649093.62999999989</c:v>
                </c:pt>
                <c:pt idx="2">
                  <c:v>505034.61</c:v>
                </c:pt>
                <c:pt idx="3">
                  <c:v>743542.62999999989</c:v>
                </c:pt>
                <c:pt idx="4">
                  <c:v>782276.91999999993</c:v>
                </c:pt>
                <c:pt idx="5">
                  <c:v>464513.26000000007</c:v>
                </c:pt>
                <c:pt idx="6">
                  <c:v>736556.59</c:v>
                </c:pt>
                <c:pt idx="7">
                  <c:v>1336964.6500000001</c:v>
                </c:pt>
                <c:pt idx="8">
                  <c:v>584560.96</c:v>
                </c:pt>
                <c:pt idx="9">
                  <c:v>753234.65999999992</c:v>
                </c:pt>
                <c:pt idx="10">
                  <c:v>622325.92000000004</c:v>
                </c:pt>
                <c:pt idx="11">
                  <c:v>593373.24000000011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1B-4907-ABEA-CDEFFD631349}"/>
            </c:ext>
          </c:extLst>
        </c:ser>
        <c:ser>
          <c:idx val="1"/>
          <c:order val="1"/>
          <c:tx>
            <c:strRef>
              <c:f>Pivot_Table!$O$10</c:f>
              <c:strCache>
                <c:ptCount val="1"/>
                <c:pt idx="0">
                  <c:v>Sum of Total_Sale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4">
                      <a:tint val="97000"/>
                      <a:satMod val="115000"/>
                      <a:lumMod val="114000"/>
                    </a:schemeClr>
                  </a:gs>
                  <a:gs pos="60000">
                    <a:schemeClr val="accent4">
                      <a:tint val="100000"/>
                      <a:shade val="96000"/>
                      <a:satMod val="100000"/>
                      <a:lumMod val="108000"/>
                    </a:schemeClr>
                  </a:gs>
                  <a:gs pos="100000">
                    <a:schemeClr val="accent4">
                      <a:shade val="91000"/>
                      <a:satMod val="100000"/>
                    </a:schemeClr>
                  </a:gs>
                </a:gsLst>
                <a:lin ang="16200000" scaled="0"/>
              </a:gradFill>
              <a:ln w="9525">
                <a:solidFill>
                  <a:schemeClr val="accent4"/>
                </a:solidFill>
                <a:round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4800000"/>
                </a:lightRig>
              </a:scene3d>
              <a:sp3d>
                <a:bevelT w="50800" h="25400"/>
              </a:sp3d>
            </c:spPr>
          </c:marker>
          <c:dPt>
            <c:idx val="7"/>
            <c:marker>
              <c:symbol val="circle"/>
              <c:size val="6"/>
              <c:spPr>
                <a:gradFill rotWithShape="1">
                  <a:gsLst>
                    <a:gs pos="0">
                      <a:schemeClr val="accent4">
                        <a:tint val="97000"/>
                        <a:satMod val="115000"/>
                        <a:lumMod val="114000"/>
                      </a:schemeClr>
                    </a:gs>
                    <a:gs pos="60000">
                      <a:schemeClr val="accent4">
                        <a:tint val="100000"/>
                        <a:shade val="96000"/>
                        <a:satMod val="100000"/>
                        <a:lumMod val="108000"/>
                      </a:schemeClr>
                    </a:gs>
                    <a:gs pos="100000">
                      <a:schemeClr val="accent4">
                        <a:shade val="91000"/>
                        <a:satMod val="100000"/>
                      </a:schemeClr>
                    </a:gs>
                  </a:gsLst>
                  <a:lin ang="16200000" scaled="0"/>
                </a:gradFill>
                <a:ln w="9525">
                  <a:solidFill>
                    <a:schemeClr val="accent4"/>
                  </a:solidFill>
                  <a:round/>
                </a:ln>
                <a:effectLst/>
                <a:scene3d>
                  <a:camera prst="orthographicFront">
                    <a:rot lat="0" lon="0" rev="0"/>
                  </a:camera>
                  <a:lightRig rig="threePt" dir="t">
                    <a:rot lat="0" lon="0" rev="4800000"/>
                  </a:lightRig>
                </a:scene3d>
                <a:sp3d>
                  <a:bevelT w="50800" h="25400"/>
                </a:sp3d>
              </c:spPr>
            </c:marker>
            <c:bubble3D val="0"/>
            <c:spPr>
              <a:ln w="34925" cap="rnd">
                <a:solidFill>
                  <a:schemeClr val="accent4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131B-4907-ABEA-CDEFFD631349}"/>
              </c:ext>
            </c:extLst>
          </c:dPt>
          <c:dLbls>
            <c:dLbl>
              <c:idx val="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31B-4907-ABEA-CDEFFD6313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Pivot_Table!$M$11:$M$23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Pivot_Table!$O$11:$O$23</c:f>
              <c:numCache>
                <c:formatCode>"₹"#,##0_);[Red]\("₹"#,##0\)</c:formatCode>
                <c:ptCount val="12"/>
                <c:pt idx="0">
                  <c:v>2093087.7499999998</c:v>
                </c:pt>
                <c:pt idx="1">
                  <c:v>1660792.95</c:v>
                </c:pt>
                <c:pt idx="2">
                  <c:v>1180533.6499999997</c:v>
                </c:pt>
                <c:pt idx="3">
                  <c:v>1819036.19</c:v>
                </c:pt>
                <c:pt idx="4">
                  <c:v>1955545.5099999998</c:v>
                </c:pt>
                <c:pt idx="5">
                  <c:v>1141534.8700000001</c:v>
                </c:pt>
                <c:pt idx="6">
                  <c:v>1753062.5499999998</c:v>
                </c:pt>
                <c:pt idx="7">
                  <c:v>3341522.33</c:v>
                </c:pt>
                <c:pt idx="8">
                  <c:v>1454357.6700000002</c:v>
                </c:pt>
                <c:pt idx="9">
                  <c:v>1946872.08</c:v>
                </c:pt>
                <c:pt idx="10">
                  <c:v>1579034.5199999998</c:v>
                </c:pt>
                <c:pt idx="11">
                  <c:v>1484182.65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1B-4907-ABEA-CDEFFD63134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25106272"/>
        <c:axId val="170966992"/>
      </c:lineChart>
      <c:catAx>
        <c:axId val="82510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966992"/>
        <c:crosses val="autoZero"/>
        <c:auto val="1"/>
        <c:lblAlgn val="ctr"/>
        <c:lblOffset val="100"/>
        <c:noMultiLvlLbl val="0"/>
      </c:catAx>
      <c:valAx>
        <c:axId val="17096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#,##0_);[Red]\(&quot;₹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5106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[TechVision_dataset for dashboad making.xlsx]Pivot_Table!PivotTable7</c:name>
    <c:fmtId val="21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  <c:marker>
          <c:symbol val="circle"/>
          <c:size val="6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  <c:marker>
          <c:symbol val="none"/>
        </c:marker>
        <c:dLbl>
          <c:idx val="0"/>
          <c:spPr>
            <a:solidFill>
              <a:schemeClr val="bg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3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  <c:marker>
          <c:symbol val="none"/>
        </c:marker>
        <c:dLbl>
          <c:idx val="0"/>
          <c:spPr>
            <a:solidFill>
              <a:schemeClr val="bg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7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8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19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20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  <c:marker>
          <c:symbol val="none"/>
        </c:marker>
        <c:dLbl>
          <c:idx val="0"/>
          <c:spPr>
            <a:solidFill>
              <a:schemeClr val="bg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22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23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  <c:pivotFmt>
        <c:idx val="24"/>
        <c:spPr>
          <a:gradFill rotWithShape="1">
            <a:gsLst>
              <a:gs pos="0">
                <a:schemeClr val="accent1">
                  <a:tint val="97000"/>
                  <a:satMod val="115000"/>
                  <a:lumMod val="114000"/>
                </a:schemeClr>
              </a:gs>
              <a:gs pos="60000">
                <a:schemeClr val="accent1">
                  <a:tint val="100000"/>
                  <a:shade val="96000"/>
                  <a:satMod val="100000"/>
                  <a:lumMod val="108000"/>
                </a:schemeClr>
              </a:gs>
              <a:gs pos="100000">
                <a:schemeClr val="accent1">
                  <a:shade val="91000"/>
                  <a:sat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c:spPr>
      </c:pivotFmt>
    </c:pivotFmts>
    <c:plotArea>
      <c:layout>
        <c:manualLayout>
          <c:layoutTarget val="inner"/>
          <c:xMode val="edge"/>
          <c:yMode val="edge"/>
          <c:x val="0.20179827863313857"/>
          <c:y val="0.17356520304836148"/>
          <c:w val="0.58397137253876974"/>
          <c:h val="0.75436762163432225"/>
        </c:manualLayout>
      </c:layout>
      <c:doughnutChart>
        <c:varyColors val="1"/>
        <c:ser>
          <c:idx val="0"/>
          <c:order val="0"/>
          <c:tx>
            <c:strRef>
              <c:f>Pivot_Table!$J$6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15000"/>
                      <a:satMod val="180000"/>
                    </a:schemeClr>
                  </a:gs>
                  <a:gs pos="50000">
                    <a:schemeClr val="accent1">
                      <a:shade val="45000"/>
                      <a:satMod val="170000"/>
                    </a:schemeClr>
                  </a:gs>
                  <a:gs pos="70000">
                    <a:schemeClr val="accent1">
                      <a:tint val="99000"/>
                      <a:shade val="65000"/>
                      <a:satMod val="155000"/>
                    </a:schemeClr>
                  </a:gs>
                  <a:gs pos="100000">
                    <a:schemeClr val="accent1">
                      <a:tint val="95500"/>
                      <a:shade val="100000"/>
                      <a:satMod val="15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4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6360000"/>
                </a:lightRig>
              </a:scene3d>
              <a:sp3d contourW="1000" prstMaterial="flat">
                <a:bevelT w="95250" h="101600"/>
                <a:contourClr>
                  <a:scrgbClr r="0" g="0" b="0">
                    <a:satMod val="30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DC3-4D1E-B4A3-3745C4CA346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15000"/>
                      <a:satMod val="180000"/>
                    </a:schemeClr>
                  </a:gs>
                  <a:gs pos="50000">
                    <a:schemeClr val="accent2">
                      <a:shade val="45000"/>
                      <a:satMod val="170000"/>
                    </a:schemeClr>
                  </a:gs>
                  <a:gs pos="70000">
                    <a:schemeClr val="accent2">
                      <a:tint val="99000"/>
                      <a:shade val="65000"/>
                      <a:satMod val="155000"/>
                    </a:schemeClr>
                  </a:gs>
                  <a:gs pos="100000">
                    <a:schemeClr val="accent2">
                      <a:tint val="95500"/>
                      <a:shade val="100000"/>
                      <a:satMod val="15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4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6360000"/>
                </a:lightRig>
              </a:scene3d>
              <a:sp3d contourW="1000" prstMaterial="flat">
                <a:bevelT w="95250" h="101600"/>
                <a:contourClr>
                  <a:scrgbClr r="0" g="0" b="0">
                    <a:satMod val="30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DC3-4D1E-B4A3-3745C4CA346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15000"/>
                      <a:satMod val="180000"/>
                    </a:schemeClr>
                  </a:gs>
                  <a:gs pos="50000">
                    <a:schemeClr val="accent3">
                      <a:shade val="45000"/>
                      <a:satMod val="170000"/>
                    </a:schemeClr>
                  </a:gs>
                  <a:gs pos="70000">
                    <a:schemeClr val="accent3">
                      <a:tint val="99000"/>
                      <a:shade val="65000"/>
                      <a:satMod val="155000"/>
                    </a:schemeClr>
                  </a:gs>
                  <a:gs pos="100000">
                    <a:schemeClr val="accent3">
                      <a:tint val="95500"/>
                      <a:shade val="100000"/>
                      <a:satMod val="15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4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6360000"/>
                </a:lightRig>
              </a:scene3d>
              <a:sp3d contourW="1000" prstMaterial="flat">
                <a:bevelT w="95250" h="101600"/>
                <a:contourClr>
                  <a:scrgbClr r="0" g="0" b="0">
                    <a:satMod val="30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2DC3-4D1E-B4A3-3745C4CA346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15000"/>
                      <a:satMod val="180000"/>
                    </a:schemeClr>
                  </a:gs>
                  <a:gs pos="50000">
                    <a:schemeClr val="accent4">
                      <a:shade val="45000"/>
                      <a:satMod val="170000"/>
                    </a:schemeClr>
                  </a:gs>
                  <a:gs pos="70000">
                    <a:schemeClr val="accent4">
                      <a:tint val="99000"/>
                      <a:shade val="65000"/>
                      <a:satMod val="155000"/>
                    </a:schemeClr>
                  </a:gs>
                  <a:gs pos="100000">
                    <a:schemeClr val="accent4">
                      <a:tint val="95500"/>
                      <a:shade val="100000"/>
                      <a:satMod val="15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4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6360000"/>
                </a:lightRig>
              </a:scene3d>
              <a:sp3d contourW="1000" prstMaterial="flat">
                <a:bevelT w="95250" h="101600"/>
                <a:contourClr>
                  <a:scrgbClr r="0" g="0" b="0">
                    <a:satMod val="30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2DC3-4D1E-B4A3-3745C4CA346A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hade val="15000"/>
                      <a:satMod val="180000"/>
                    </a:schemeClr>
                  </a:gs>
                  <a:gs pos="50000">
                    <a:schemeClr val="accent5">
                      <a:shade val="45000"/>
                      <a:satMod val="170000"/>
                    </a:schemeClr>
                  </a:gs>
                  <a:gs pos="70000">
                    <a:schemeClr val="accent5">
                      <a:tint val="99000"/>
                      <a:shade val="65000"/>
                      <a:satMod val="155000"/>
                    </a:schemeClr>
                  </a:gs>
                  <a:gs pos="100000">
                    <a:schemeClr val="accent5">
                      <a:tint val="95500"/>
                      <a:shade val="100000"/>
                      <a:satMod val="15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4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6360000"/>
                </a:lightRig>
              </a:scene3d>
              <a:sp3d contourW="1000" prstMaterial="flat">
                <a:bevelT w="95250" h="101600"/>
                <a:contourClr>
                  <a:scrgbClr r="0" g="0" b="0">
                    <a:satMod val="30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2DC3-4D1E-B4A3-3745C4CA346A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hade val="15000"/>
                      <a:satMod val="180000"/>
                    </a:schemeClr>
                  </a:gs>
                  <a:gs pos="50000">
                    <a:schemeClr val="accent6">
                      <a:shade val="45000"/>
                      <a:satMod val="170000"/>
                    </a:schemeClr>
                  </a:gs>
                  <a:gs pos="70000">
                    <a:schemeClr val="accent6">
                      <a:tint val="99000"/>
                      <a:shade val="65000"/>
                      <a:satMod val="155000"/>
                    </a:schemeClr>
                  </a:gs>
                  <a:gs pos="100000">
                    <a:schemeClr val="accent6">
                      <a:tint val="95500"/>
                      <a:shade val="100000"/>
                      <a:satMod val="15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4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6360000"/>
                </a:lightRig>
              </a:scene3d>
              <a:sp3d contourW="1000" prstMaterial="flat">
                <a:bevelT w="95250" h="101600"/>
                <a:contourClr>
                  <a:scrgbClr r="0" g="0" b="0">
                    <a:satMod val="30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2DC3-4D1E-B4A3-3745C4CA346A}"/>
              </c:ext>
            </c:extLst>
          </c:dPt>
          <c:dLbls>
            <c:spPr>
              <a:solidFill>
                <a:prstClr val="white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Pivot_Table!$I$7:$I$11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Pivot_Table!$J$7:$J$11</c:f>
              <c:numCache>
                <c:formatCode>"₹"#,##0_);[Red]\("₹"#,##0\)</c:formatCode>
                <c:ptCount val="4"/>
                <c:pt idx="0">
                  <c:v>7458899.8099999996</c:v>
                </c:pt>
                <c:pt idx="1">
                  <c:v>4451992.55</c:v>
                </c:pt>
                <c:pt idx="2">
                  <c:v>4228538.87</c:v>
                </c:pt>
                <c:pt idx="3">
                  <c:v>5270131.4899999984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C3-4D1E-B4A3-3745C4CA34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cap="none" spc="0" baseline="0">
              <a:ln w="0"/>
              <a:solidFill>
                <a:schemeClr val="tx1"/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[TechVision_dataset for dashboad making.xlsx]Pivot_Table!PivotTable4</c:name>
    <c:fmtId val="36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5.8333333333333334E-2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1.0185067526415994E-16"/>
              <c:y val="0.1620370370370370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1.1111111111111112E-2"/>
              <c:y val="2.777777777777769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3.6111111111111115E-2"/>
              <c:y val="-2.7777777777777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5.8333333333333334E-2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1.0185067526415994E-16"/>
              <c:y val="0.1620370370370370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1.1111111111111112E-2"/>
              <c:y val="2.777777777777769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3.6111111111111115E-2"/>
              <c:y val="-2.7777777777777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5.8333333333333334E-2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</c:pivotFmt>
      <c:pivotFmt>
        <c:idx val="13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1.648924704946577E-2"/>
              <c:y val="3.79252609084563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7.1238778862010604E-2"/>
              <c:y val="-2.77777666803431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5.8333333333333334E-2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</c:pivotFmt>
      <c:pivotFmt>
        <c:idx val="18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1.648924704946577E-2"/>
              <c:y val="3.79252609084563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7.1238778862010604E-2"/>
              <c:y val="-2.77777666803431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5.8333333333333334E-2"/>
              <c:y val="4.629629629629629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</c:pivotFmt>
      <c:pivotFmt>
        <c:idx val="23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1.648924704946577E-2"/>
              <c:y val="3.79252609084563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6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7.1238778862010604E-2"/>
              <c:y val="-2.77777666803431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0027290107894005E-2"/>
          <c:y val="0.13860598198779825"/>
          <c:w val="0.85241806793622732"/>
          <c:h val="0.79382049562119639"/>
        </c:manualLayout>
      </c:layout>
      <c:pie3DChart>
        <c:varyColors val="1"/>
        <c:ser>
          <c:idx val="0"/>
          <c:order val="0"/>
          <c:tx>
            <c:strRef>
              <c:f>Pivot_Table!$N$3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14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8F82-4CAB-B1E1-8071BA4DE403}"/>
              </c:ext>
            </c:extLst>
          </c:dPt>
          <c:dPt>
            <c:idx val="1"/>
            <c:bubble3D val="0"/>
            <c:explosion val="5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8F82-4CAB-B1E1-8071BA4DE403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8F82-4CAB-B1E1-8071BA4DE403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8F82-4CAB-B1E1-8071BA4DE40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cap="none" spc="0" baseline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8F82-4CAB-B1E1-8071BA4DE40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cap="none" spc="0" baseline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8F82-4CAB-B1E1-8071BA4DE40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cap="none" spc="0" baseline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8F82-4CAB-B1E1-8071BA4DE403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cap="none" spc="0" baseline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8F82-4CAB-B1E1-8071BA4DE4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Pivot_Table!$M$4:$M$8</c:f>
              <c:strCache>
                <c:ptCount val="4"/>
                <c:pt idx="0">
                  <c:v>Accessories</c:v>
                </c:pt>
                <c:pt idx="1">
                  <c:v>Laptop</c:v>
                </c:pt>
                <c:pt idx="2">
                  <c:v>Phone</c:v>
                </c:pt>
                <c:pt idx="3">
                  <c:v>TV</c:v>
                </c:pt>
              </c:strCache>
            </c:strRef>
          </c:cat>
          <c:val>
            <c:numRef>
              <c:f>Pivot_Table!$N$4:$N$8</c:f>
              <c:numCache>
                <c:formatCode>"₹"#,##0_);[Red]\("₹"#,##0\)</c:formatCode>
                <c:ptCount val="4"/>
                <c:pt idx="0">
                  <c:v>314614.62999999995</c:v>
                </c:pt>
                <c:pt idx="1">
                  <c:v>4594825.5999999996</c:v>
                </c:pt>
                <c:pt idx="2">
                  <c:v>1855881.0799999998</c:v>
                </c:pt>
                <c:pt idx="3">
                  <c:v>1853356.7100000002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82-4CAB-B1E1-8071BA4DE403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81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71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692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040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969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096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948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96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86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60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98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CC40D-C7F6-4532-9A85-A0A24E7667B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0D61A-E4E8-4E7A-A6B7-264B396E4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6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TechVision_dataset%20for%20dashboad%20making.xlsx%20-%20Shortcut.ln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2D2F5-00B2-ABFA-38A9-F6A083814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663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6800" dirty="0">
                <a:ln w="28575">
                  <a:solidFill>
                    <a:schemeClr val="tx1"/>
                  </a:solidFill>
                </a:ln>
                <a:latin typeface="Gill Sans Ultra Bold" panose="020B0A02020104020203" pitchFamily="34" charset="0"/>
                <a:ea typeface="Inter"/>
              </a:rPr>
              <a:t>TECH VISION ELECTRONICS PVT. LTD.</a:t>
            </a:r>
            <a:endParaRPr lang="en-US" sz="6800" dirty="0">
              <a:ln w="28575">
                <a:solidFill>
                  <a:schemeClr val="tx1"/>
                </a:solidFill>
              </a:ln>
              <a:latin typeface="Gill Sans Ultra Bold" panose="020B0A02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FA414-6D1C-6BAF-485E-54628CA22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491099"/>
            <a:ext cx="4743456" cy="84042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Franklin Gothic Heavy" panose="020B0903020102020204" pitchFamily="34" charset="0"/>
                <a:ea typeface="+mj-ea"/>
                <a:cs typeface="+mj-cs"/>
                <a:sym typeface="Inter"/>
              </a:rPr>
              <a:t>SALES PERFORMANCE ANALYSIS &amp; STRATEGIC GROWTH OPPORTUNITIES ON PROFIT 2024</a:t>
            </a:r>
            <a:endParaRPr lang="en-US" sz="2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Franklin Gothic Heavy" panose="020B0903020102020204" pitchFamily="34" charset="0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32810-E177-659D-4668-1DA10530FB3E}"/>
              </a:ext>
            </a:extLst>
          </p:cNvPr>
          <p:cNvSpPr txBox="1"/>
          <p:nvPr/>
        </p:nvSpPr>
        <p:spPr>
          <a:xfrm>
            <a:off x="206477" y="6275750"/>
            <a:ext cx="302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BY- ROMAAN SIDDIQUI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046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3DC34-1EBC-0208-BAB4-00628E6D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128E-9641-B66C-6931-BF38946F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992" y="37941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DATA SOURCE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27831-14CA-B632-B259-129FABBED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7884"/>
            <a:ext cx="10896600" cy="1646237"/>
          </a:xfrm>
        </p:spPr>
        <p:txBody>
          <a:bodyPr>
            <a:no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 got the data from The Kaggle. I performed some operations using Excel and prepared dashboard and presentation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data I used is a type of sales data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Time period - 2024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7F92375-6184-070D-D06B-7F236F44A319}"/>
              </a:ext>
            </a:extLst>
          </p:cNvPr>
          <p:cNvSpPr txBox="1">
            <a:spLocks/>
          </p:cNvSpPr>
          <p:nvPr/>
        </p:nvSpPr>
        <p:spPr>
          <a:xfrm>
            <a:off x="838200" y="4171948"/>
            <a:ext cx="10896600" cy="1217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Here is the dataset that I used to prepare this presentation &amp; dashboard-</a:t>
            </a:r>
          </a:p>
        </p:txBody>
      </p:sp>
      <p:sp>
        <p:nvSpPr>
          <p:cNvPr id="5" name="TextBox 4">
            <a:hlinkClick r:id="rId2" action="ppaction://hlinkfile"/>
            <a:extLst>
              <a:ext uri="{FF2B5EF4-FFF2-40B4-BE49-F238E27FC236}">
                <a16:creationId xmlns:a16="http://schemas.microsoft.com/office/drawing/2014/main" id="{6B3930A9-C114-753F-17BB-4E3C9D31625E}"/>
              </a:ext>
            </a:extLst>
          </p:cNvPr>
          <p:cNvSpPr txBox="1"/>
          <p:nvPr/>
        </p:nvSpPr>
        <p:spPr>
          <a:xfrm>
            <a:off x="3148008" y="4519144"/>
            <a:ext cx="1528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2800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184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C8A436-C270-AA22-0A2B-4759FA3BF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629" y="384919"/>
            <a:ext cx="10509504" cy="11481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OBJECTIVES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B2E6B2B2-D8D9-6463-9494-00F418EBD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3" t="40172" r="5732" b="32458"/>
          <a:stretch>
            <a:fillRect/>
          </a:stretch>
        </p:blipFill>
        <p:spPr>
          <a:xfrm>
            <a:off x="613763" y="2436463"/>
            <a:ext cx="2903236" cy="68876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E559F808-5555-7395-8668-4308856EF7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245" y="2094191"/>
            <a:ext cx="10207555" cy="360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1: Measure Overall Performance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Find our total sales and profit money for 2024.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2: Identify Top Performers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See which products and areas (regions) sold the best.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3: Spot Problems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and</a:t>
            </a:r>
            <a:r>
              <a:rPr lang="en-US" sz="2400" b="1" dirty="0"/>
              <a:t> Weak Areas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Find problems: which months and areas were weak?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4: Create a Growth Plan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Decide what we should do to earn more money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4529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A132-1EA5-4090-D131-12643956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541733"/>
            <a:ext cx="10515600" cy="977901"/>
          </a:xfrm>
        </p:spPr>
        <p:txBody>
          <a:bodyPr>
            <a:no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KEY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A517-4C8C-97AD-7259-B10585F8A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1: Laptops Are Our Cash Machine 💻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Laptops = 53% of all sales (more than half!)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Laptops generate ₹46.94 Cr profit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That's </a:t>
            </a:r>
            <a:r>
              <a:rPr lang="en-US" sz="2000" b="1" dirty="0"/>
              <a:t>10 times more profit</a:t>
            </a:r>
            <a:r>
              <a:rPr lang="en-US" sz="2000" dirty="0"/>
              <a:t> than accessories</a:t>
            </a:r>
          </a:p>
          <a:p>
            <a:pPr marL="0" indent="0">
              <a:buNone/>
            </a:pPr>
            <a:r>
              <a:rPr lang="en-US" sz="2000" b="1" dirty="0"/>
              <a:t>2: Clear Seasonal Patterns 📈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August is our BEST month: ₹33.41 Lakhs in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March &amp; June are WEAK: Only ₹12 Lakhs each month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That's a </a:t>
            </a:r>
            <a:r>
              <a:rPr lang="en-US" sz="2000" b="1" dirty="0"/>
              <a:t>3x difference</a:t>
            </a:r>
          </a:p>
          <a:p>
            <a:pPr marL="0" indent="0">
              <a:buNone/>
            </a:pPr>
            <a:r>
              <a:rPr lang="en-US" sz="2000" b="1" dirty="0"/>
              <a:t>3: East Region Dominates 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East region = 35% of total sales (our powerhouse!)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South = 20%, North = 21%, West = 24%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East is doing something RIGHT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8AF574-84A4-EDDF-7343-345D22360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166266"/>
              </p:ext>
            </p:extLst>
          </p:nvPr>
        </p:nvGraphicFramePr>
        <p:xfrm>
          <a:off x="8475883" y="1320200"/>
          <a:ext cx="3008886" cy="13065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4443">
                  <a:extLst>
                    <a:ext uri="{9D8B030D-6E8A-4147-A177-3AD203B41FA5}">
                      <a16:colId xmlns:a16="http://schemas.microsoft.com/office/drawing/2014/main" val="2033581451"/>
                    </a:ext>
                  </a:extLst>
                </a:gridCol>
                <a:gridCol w="1504443">
                  <a:extLst>
                    <a:ext uri="{9D8B030D-6E8A-4147-A177-3AD203B41FA5}">
                      <a16:colId xmlns:a16="http://schemas.microsoft.com/office/drawing/2014/main" val="2056599592"/>
                    </a:ext>
                  </a:extLst>
                </a:gridCol>
              </a:tblGrid>
              <a:tr h="4355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Row Labels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Sum of Profit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380359"/>
                  </a:ext>
                </a:extLst>
              </a:tr>
              <a:tr h="4355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Laptop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₹ 45,94,825.60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039792"/>
                  </a:ext>
                </a:extLst>
              </a:tr>
              <a:tr h="4355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Grand Total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₹ 45,94,825.60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21747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591F83-AB17-9461-6210-22AFAD32E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687726"/>
              </p:ext>
            </p:extLst>
          </p:nvPr>
        </p:nvGraphicFramePr>
        <p:xfrm>
          <a:off x="7926640" y="2932706"/>
          <a:ext cx="4107371" cy="14350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1032">
                  <a:extLst>
                    <a:ext uri="{9D8B030D-6E8A-4147-A177-3AD203B41FA5}">
                      <a16:colId xmlns:a16="http://schemas.microsoft.com/office/drawing/2014/main" val="877479131"/>
                    </a:ext>
                  </a:extLst>
                </a:gridCol>
                <a:gridCol w="1125307">
                  <a:extLst>
                    <a:ext uri="{9D8B030D-6E8A-4147-A177-3AD203B41FA5}">
                      <a16:colId xmlns:a16="http://schemas.microsoft.com/office/drawing/2014/main" val="3759503177"/>
                    </a:ext>
                  </a:extLst>
                </a:gridCol>
                <a:gridCol w="1491032">
                  <a:extLst>
                    <a:ext uri="{9D8B030D-6E8A-4147-A177-3AD203B41FA5}">
                      <a16:colId xmlns:a16="http://schemas.microsoft.com/office/drawing/2014/main" val="929759447"/>
                    </a:ext>
                  </a:extLst>
                </a:gridCol>
              </a:tblGrid>
              <a:tr h="29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Row Labels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Sum of Profit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Sum of Total_Sale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781256"/>
                  </a:ext>
                </a:extLst>
              </a:tr>
              <a:tr h="29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Jun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₹ 4,64,513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₹ 11,41,535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307896"/>
                  </a:ext>
                </a:extLst>
              </a:tr>
              <a:tr h="29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Aug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₹ 13,36,965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₹ 33,41,522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216720"/>
                  </a:ext>
                </a:extLst>
              </a:tr>
              <a:tr h="29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Grand Total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₹ 18,01,478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₹ 44,83,057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7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385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7B79E-96B2-A10E-B8DB-3F2FFF79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9" y="365125"/>
            <a:ext cx="10515600" cy="1325563"/>
          </a:xfrm>
        </p:spPr>
        <p:txBody>
          <a:bodyPr/>
          <a:lstStyle/>
          <a:p>
            <a:r>
              <a:rPr lang="en-US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OVERALL ANALYSIS:</a:t>
            </a:r>
          </a:p>
        </p:txBody>
      </p:sp>
      <p:sp>
        <p:nvSpPr>
          <p:cNvPr id="6" name="Google Shape;112;p15">
            <a:extLst>
              <a:ext uri="{FF2B5EF4-FFF2-40B4-BE49-F238E27FC236}">
                <a16:creationId xmlns:a16="http://schemas.microsoft.com/office/drawing/2014/main" id="{EBA1F5F0-4157-913A-1EA2-59E5407C6CD7}"/>
              </a:ext>
            </a:extLst>
          </p:cNvPr>
          <p:cNvSpPr txBox="1"/>
          <p:nvPr/>
        </p:nvSpPr>
        <p:spPr>
          <a:xfrm>
            <a:off x="914400" y="2226238"/>
            <a:ext cx="29972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Oswald"/>
                <a:ea typeface="Oswald"/>
                <a:cs typeface="Oswald"/>
                <a:sym typeface="Oswald"/>
              </a:rPr>
              <a:t>₹21.4 Cr</a:t>
            </a:r>
            <a:endParaRPr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7" name="Google Shape;113;p15">
            <a:extLst>
              <a:ext uri="{FF2B5EF4-FFF2-40B4-BE49-F238E27FC236}">
                <a16:creationId xmlns:a16="http://schemas.microsoft.com/office/drawing/2014/main" id="{F890842F-D0DD-9BFE-F62C-6DEAFD76BD3C}"/>
              </a:ext>
            </a:extLst>
          </p:cNvPr>
          <p:cNvSpPr txBox="1"/>
          <p:nvPr/>
        </p:nvSpPr>
        <p:spPr>
          <a:xfrm>
            <a:off x="914400" y="3445438"/>
            <a:ext cx="299724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latin typeface="Inter"/>
                <a:ea typeface="Inter"/>
                <a:cs typeface="Inter"/>
                <a:sym typeface="Inter"/>
              </a:rPr>
              <a:t>TOTAL SALES REVENUE</a:t>
            </a:r>
            <a:endParaRPr b="1"/>
          </a:p>
        </p:txBody>
      </p:sp>
      <p:sp>
        <p:nvSpPr>
          <p:cNvPr id="8" name="Google Shape;114;p15">
            <a:extLst>
              <a:ext uri="{FF2B5EF4-FFF2-40B4-BE49-F238E27FC236}">
                <a16:creationId xmlns:a16="http://schemas.microsoft.com/office/drawing/2014/main" id="{A139A742-AF02-EB0B-E447-76BA247B0E18}"/>
              </a:ext>
            </a:extLst>
          </p:cNvPr>
          <p:cNvSpPr txBox="1"/>
          <p:nvPr/>
        </p:nvSpPr>
        <p:spPr>
          <a:xfrm>
            <a:off x="4597449" y="2226238"/>
            <a:ext cx="29972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Oswald"/>
                <a:ea typeface="Oswald"/>
                <a:cs typeface="Oswald"/>
                <a:sym typeface="Oswald"/>
              </a:rPr>
              <a:t>₹8.6 Cr</a:t>
            </a:r>
            <a:endParaRPr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Google Shape;115;p15">
            <a:extLst>
              <a:ext uri="{FF2B5EF4-FFF2-40B4-BE49-F238E27FC236}">
                <a16:creationId xmlns:a16="http://schemas.microsoft.com/office/drawing/2014/main" id="{6EB8523A-9CE4-0080-44A2-FB458A2E98C6}"/>
              </a:ext>
            </a:extLst>
          </p:cNvPr>
          <p:cNvSpPr txBox="1"/>
          <p:nvPr/>
        </p:nvSpPr>
        <p:spPr>
          <a:xfrm>
            <a:off x="4597449" y="3445438"/>
            <a:ext cx="299724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latin typeface="Inter"/>
                <a:ea typeface="Inter"/>
                <a:cs typeface="Inter"/>
                <a:sym typeface="Inter"/>
              </a:rPr>
              <a:t>TOTAL NET PROFIT</a:t>
            </a:r>
            <a:endParaRPr b="1"/>
          </a:p>
        </p:txBody>
      </p:sp>
      <p:sp>
        <p:nvSpPr>
          <p:cNvPr id="10" name="Google Shape;116;p15">
            <a:extLst>
              <a:ext uri="{FF2B5EF4-FFF2-40B4-BE49-F238E27FC236}">
                <a16:creationId xmlns:a16="http://schemas.microsoft.com/office/drawing/2014/main" id="{E53676EC-5C7B-D343-36D5-AFB45AA4BB3F}"/>
              </a:ext>
            </a:extLst>
          </p:cNvPr>
          <p:cNvSpPr txBox="1"/>
          <p:nvPr/>
        </p:nvSpPr>
        <p:spPr>
          <a:xfrm>
            <a:off x="8280499" y="2226238"/>
            <a:ext cx="29972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Oswald"/>
                <a:ea typeface="Oswald"/>
                <a:cs typeface="Oswald"/>
                <a:sym typeface="Oswald"/>
              </a:rPr>
              <a:t>40%</a:t>
            </a:r>
            <a:endParaRPr b="1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1" name="Google Shape;117;p15">
            <a:extLst>
              <a:ext uri="{FF2B5EF4-FFF2-40B4-BE49-F238E27FC236}">
                <a16:creationId xmlns:a16="http://schemas.microsoft.com/office/drawing/2014/main" id="{5ACEE0F7-2264-E701-21F1-DD1FD6B9C899}"/>
              </a:ext>
            </a:extLst>
          </p:cNvPr>
          <p:cNvSpPr txBox="1"/>
          <p:nvPr/>
        </p:nvSpPr>
        <p:spPr>
          <a:xfrm>
            <a:off x="8280499" y="3445438"/>
            <a:ext cx="299724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latin typeface="Inter"/>
                <a:ea typeface="Inter"/>
                <a:cs typeface="Inter"/>
                <a:sym typeface="Inter"/>
              </a:rPr>
              <a:t>PROFIT MARGIN</a:t>
            </a:r>
            <a:endParaRPr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0BB80-2573-7FBF-017E-37993C3A6378}"/>
              </a:ext>
            </a:extLst>
          </p:cNvPr>
          <p:cNvSpPr txBox="1"/>
          <p:nvPr/>
        </p:nvSpPr>
        <p:spPr>
          <a:xfrm>
            <a:off x="914400" y="4129549"/>
            <a:ext cx="103633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These numbers gives us the Total Sales Revenue, Total Net Profit, and the Margin on the Profit for the year 2024.</a:t>
            </a:r>
          </a:p>
        </p:txBody>
      </p:sp>
    </p:spTree>
    <p:extLst>
      <p:ext uri="{BB962C8B-B14F-4D97-AF65-F5344CB8AC3E}">
        <p14:creationId xmlns:p14="http://schemas.microsoft.com/office/powerpoint/2010/main" val="2915831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371140-0534-95D5-F678-5B13A22C6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851" y="21431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MONTHLY SALES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12EBB7F-1AC3-42BE-96AD-BD39DCC48F1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40780661"/>
              </p:ext>
            </p:extLst>
          </p:nvPr>
        </p:nvGraphicFramePr>
        <p:xfrm>
          <a:off x="536012" y="1539875"/>
          <a:ext cx="8284906" cy="2714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itle 4">
            <a:extLst>
              <a:ext uri="{FF2B5EF4-FFF2-40B4-BE49-F238E27FC236}">
                <a16:creationId xmlns:a16="http://schemas.microsoft.com/office/drawing/2014/main" id="{22DD1717-4101-600C-FED0-295FC12D1DC6}"/>
              </a:ext>
            </a:extLst>
          </p:cNvPr>
          <p:cNvSpPr txBox="1">
            <a:spLocks/>
          </p:cNvSpPr>
          <p:nvPr/>
        </p:nvSpPr>
        <p:spPr>
          <a:xfrm>
            <a:off x="264548" y="4833938"/>
            <a:ext cx="8408527" cy="180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defTabSz="933450">
              <a:spcAft>
                <a:spcPct val="3500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latin typeface="Calibri" panose="020F0502020204030204"/>
              </a:rPr>
              <a:t>August had the highest sales and profit.</a:t>
            </a:r>
          </a:p>
          <a:p>
            <a:pPr marL="457200" lvl="0" indent="-457200" defTabSz="933450">
              <a:spcAft>
                <a:spcPct val="3500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latin typeface="Calibri" panose="020F0502020204030204"/>
              </a:rPr>
              <a:t>Weak Months: March and June had the lowest sales and profit.</a:t>
            </a:r>
          </a:p>
          <a:p>
            <a:pPr marL="457200" lvl="0" indent="-457200" defTabSz="933450">
              <a:spcAft>
                <a:spcPct val="3500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latin typeface="Calibri" panose="020F0502020204030204"/>
              </a:rPr>
              <a:t>Important: When sales go up, profit goes up. When sales go down, profit goes down</a:t>
            </a:r>
            <a:endParaRPr lang="en-US" sz="2000" dirty="0">
              <a:latin typeface="Calibri" panose="020F050202020403020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A9B9EC-700B-B104-6A7C-F85E24575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690403"/>
              </p:ext>
            </p:extLst>
          </p:nvPr>
        </p:nvGraphicFramePr>
        <p:xfrm>
          <a:off x="8673075" y="1539875"/>
          <a:ext cx="3254376" cy="3490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0529">
                  <a:extLst>
                    <a:ext uri="{9D8B030D-6E8A-4147-A177-3AD203B41FA5}">
                      <a16:colId xmlns:a16="http://schemas.microsoft.com/office/drawing/2014/main" val="432325405"/>
                    </a:ext>
                  </a:extLst>
                </a:gridCol>
                <a:gridCol w="1027152">
                  <a:extLst>
                    <a:ext uri="{9D8B030D-6E8A-4147-A177-3AD203B41FA5}">
                      <a16:colId xmlns:a16="http://schemas.microsoft.com/office/drawing/2014/main" val="3415898194"/>
                    </a:ext>
                  </a:extLst>
                </a:gridCol>
                <a:gridCol w="1106695">
                  <a:extLst>
                    <a:ext uri="{9D8B030D-6E8A-4147-A177-3AD203B41FA5}">
                      <a16:colId xmlns:a16="http://schemas.microsoft.com/office/drawing/2014/main" val="263687665"/>
                    </a:ext>
                  </a:extLst>
                </a:gridCol>
              </a:tblGrid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Months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Total Sale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Total </a:t>
                      </a:r>
                      <a:r>
                        <a:rPr lang="en-IN" sz="1400" b="1" u="none" strike="noStrike" dirty="0" err="1">
                          <a:effectLst/>
                        </a:rPr>
                        <a:t>Pofit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94252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Jan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20,93,088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8,47,201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251299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Feb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16,60,793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6,49,094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165712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Mar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11,80,534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5,05,035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341740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Apr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18,19,036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7,43,543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352526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May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19,55,546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7,82,277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491012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Jun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11,41,535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4,64,513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438842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Jul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17,53,063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7,36,557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3599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Aug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33,41,522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13,36,965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736049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Sep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14,54,358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5,84,561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094299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Oct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19,46,872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7,53,235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30809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Nov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15,79,035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6,22,326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40255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Dec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14,84,183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5,93,373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768676"/>
                  </a:ext>
                </a:extLst>
              </a:tr>
              <a:tr h="249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Grand Total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₹ 2,14,09,563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₹ 86,18,678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02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734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FE4C-E345-CF2C-CD65-FF36E0AD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401" y="445898"/>
            <a:ext cx="5649623" cy="159454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REGIONAL SALES PERFORMANCE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42DFCA6-4FFA-440A-90E5-A3A94E346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686271"/>
              </p:ext>
            </p:extLst>
          </p:nvPr>
        </p:nvGraphicFramePr>
        <p:xfrm>
          <a:off x="7343072" y="0"/>
          <a:ext cx="4667686" cy="3613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EA9433-4943-D66D-58F4-E7DFED00E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760360"/>
              </p:ext>
            </p:extLst>
          </p:nvPr>
        </p:nvGraphicFramePr>
        <p:xfrm>
          <a:off x="7854102" y="3613351"/>
          <a:ext cx="3504461" cy="20014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17976">
                  <a:extLst>
                    <a:ext uri="{9D8B030D-6E8A-4147-A177-3AD203B41FA5}">
                      <a16:colId xmlns:a16="http://schemas.microsoft.com/office/drawing/2014/main" val="325035972"/>
                    </a:ext>
                  </a:extLst>
                </a:gridCol>
                <a:gridCol w="1986485">
                  <a:extLst>
                    <a:ext uri="{9D8B030D-6E8A-4147-A177-3AD203B41FA5}">
                      <a16:colId xmlns:a16="http://schemas.microsoft.com/office/drawing/2014/main" val="2535717072"/>
                    </a:ext>
                  </a:extLst>
                </a:gridCol>
              </a:tblGrid>
              <a:tr h="333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Regions</a:t>
                      </a: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Total Sales</a:t>
                      </a: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994571"/>
                  </a:ext>
                </a:extLst>
              </a:tr>
              <a:tr h="333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East</a:t>
                      </a: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₹ 74,58,900</a:t>
                      </a: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554966"/>
                  </a:ext>
                </a:extLst>
              </a:tr>
              <a:tr h="333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North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₹ 44,51,993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97922"/>
                  </a:ext>
                </a:extLst>
              </a:tr>
              <a:tr h="333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South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₹ 42,28,539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66963"/>
                  </a:ext>
                </a:extLst>
              </a:tr>
              <a:tr h="333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West</a:t>
                      </a:r>
                      <a:endParaRPr lang="en-IN" sz="18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₹ 52,70,131</a:t>
                      </a: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373486"/>
                  </a:ext>
                </a:extLst>
              </a:tr>
              <a:tr h="333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Grand Total</a:t>
                      </a: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₹ 2,14,09,563</a:t>
                      </a:r>
                      <a:endParaRPr lang="en-IN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677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C680BFB-0A29-5391-92F3-22CBC4643EAE}"/>
              </a:ext>
            </a:extLst>
          </p:cNvPr>
          <p:cNvSpPr txBox="1"/>
          <p:nvPr/>
        </p:nvSpPr>
        <p:spPr>
          <a:xfrm>
            <a:off x="833437" y="2675734"/>
            <a:ext cx="58574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Strongest Area: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East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is the leader (35% of all sales).</a:t>
            </a: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Next Areas:</a:t>
            </a:r>
            <a:r>
              <a:rPr lang="en-US" sz="2800" dirty="0"/>
              <a:t> West (24%) and North (21%) are good.</a:t>
            </a:r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Weakest Area:</a:t>
            </a:r>
            <a:r>
              <a:rPr lang="en-US" sz="2800" dirty="0"/>
              <a:t> </a:t>
            </a:r>
            <a:r>
              <a:rPr lang="en-US" sz="2800" b="1" dirty="0"/>
              <a:t>South</a:t>
            </a:r>
            <a:r>
              <a:rPr lang="en-US" sz="2800" dirty="0"/>
              <a:t> sells the least (20% of all sales)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94359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E2E7-12C4-C1CE-47F9-11539F1FB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829" y="342900"/>
            <a:ext cx="4802187" cy="16002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PRODUCT PERFORMANCE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F675FE2-DCDD-4895-9EBE-0614037EC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951377"/>
              </p:ext>
            </p:extLst>
          </p:nvPr>
        </p:nvGraphicFramePr>
        <p:xfrm>
          <a:off x="6777038" y="177583"/>
          <a:ext cx="5414962" cy="3108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7C8173-566B-6206-F17B-4451BD4B9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366121"/>
              </p:ext>
            </p:extLst>
          </p:nvPr>
        </p:nvGraphicFramePr>
        <p:xfrm>
          <a:off x="7668523" y="3429000"/>
          <a:ext cx="3631992" cy="2143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9846">
                  <a:extLst>
                    <a:ext uri="{9D8B030D-6E8A-4147-A177-3AD203B41FA5}">
                      <a16:colId xmlns:a16="http://schemas.microsoft.com/office/drawing/2014/main" val="3117304567"/>
                    </a:ext>
                  </a:extLst>
                </a:gridCol>
                <a:gridCol w="1562146">
                  <a:extLst>
                    <a:ext uri="{9D8B030D-6E8A-4147-A177-3AD203B41FA5}">
                      <a16:colId xmlns:a16="http://schemas.microsoft.com/office/drawing/2014/main" val="3966359697"/>
                    </a:ext>
                  </a:extLst>
                </a:gridCol>
              </a:tblGrid>
              <a:tr h="3571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Products</a:t>
                      </a:r>
                      <a:endParaRPr lang="en-IN" sz="18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Total Profit</a:t>
                      </a:r>
                      <a:endParaRPr lang="en-IN" sz="18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159029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Accessories</a:t>
                      </a:r>
                      <a:endParaRPr lang="en-IN" sz="18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₹ 3,14,615</a:t>
                      </a:r>
                      <a:endParaRPr lang="en-IN" sz="18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462373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Laptop</a:t>
                      </a:r>
                      <a:endParaRPr lang="en-IN" sz="18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₹ 45,94,826</a:t>
                      </a:r>
                      <a:endParaRPr lang="en-IN" sz="18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341687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Phone</a:t>
                      </a:r>
                      <a:endParaRPr lang="en-IN" sz="18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₹ 18,55,881</a:t>
                      </a:r>
                      <a:endParaRPr lang="en-IN" sz="18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272798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TV</a:t>
                      </a:r>
                      <a:endParaRPr lang="en-IN" sz="18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₹ 18,53,357</a:t>
                      </a:r>
                      <a:endParaRPr lang="en-IN" sz="18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985399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Grand Total</a:t>
                      </a:r>
                      <a:endParaRPr lang="en-IN" sz="18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₹ 86,18,678</a:t>
                      </a:r>
                      <a:endParaRPr lang="en-IN" sz="18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23752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BE95FA3-4C08-7DBB-1F7D-4D10D5B2947A}"/>
              </a:ext>
            </a:extLst>
          </p:cNvPr>
          <p:cNvSpPr txBox="1"/>
          <p:nvPr/>
        </p:nvSpPr>
        <p:spPr>
          <a:xfrm>
            <a:off x="639073" y="2534367"/>
            <a:ext cx="6137965" cy="303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Aft>
                <a:spcPts val="882"/>
              </a:spcAft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Sales Leader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Laptops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are the clear winner, making more than half of all sales </a:t>
            </a:r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(53%)</a:t>
            </a:r>
            <a:endParaRPr lang="en-IN" sz="2800" dirty="0"/>
          </a:p>
          <a:p>
            <a:pPr marL="457200" indent="-457200">
              <a:lnSpc>
                <a:spcPct val="90000"/>
              </a:lnSpc>
              <a:spcAft>
                <a:spcPts val="882"/>
              </a:spcAft>
              <a:buFont typeface="Wingdings" panose="05000000000000000000" pitchFamily="2" charset="2"/>
              <a:buChar char="q"/>
            </a:pPr>
            <a:r>
              <a:rPr lang="en-US" sz="2800" b="1" dirty="0"/>
              <a:t>Good Sellers: Phones (22%) </a:t>
            </a:r>
            <a:r>
              <a:rPr lang="en-US" sz="2800" dirty="0"/>
              <a:t>and </a:t>
            </a:r>
            <a:r>
              <a:rPr lang="en-US" sz="2800" b="1" dirty="0"/>
              <a:t>TVs (21%) </a:t>
            </a:r>
            <a:r>
              <a:rPr lang="en-US" sz="2800" dirty="0"/>
              <a:t>are also strong.</a:t>
            </a:r>
            <a:endParaRPr lang="en-IN" sz="2800" dirty="0"/>
          </a:p>
          <a:p>
            <a:pPr marL="457200" indent="-457200">
              <a:lnSpc>
                <a:spcPct val="90000"/>
              </a:lnSpc>
              <a:spcAft>
                <a:spcPts val="882"/>
              </a:spcAft>
              <a:buFont typeface="Wingdings" panose="05000000000000000000" pitchFamily="2" charset="2"/>
              <a:buChar char="q"/>
            </a:pPr>
            <a:r>
              <a:rPr lang="en-US" sz="2800" b="1" dirty="0"/>
              <a:t>Weak Seller</a:t>
            </a:r>
            <a:r>
              <a:rPr lang="en-US" sz="2800" dirty="0"/>
              <a:t>: </a:t>
            </a:r>
            <a:r>
              <a:rPr lang="en-US" sz="2800" b="1" dirty="0"/>
              <a:t>Accessories</a:t>
            </a:r>
            <a:r>
              <a:rPr lang="en-US" sz="2800" dirty="0"/>
              <a:t> sell very little, only </a:t>
            </a:r>
            <a:r>
              <a:rPr lang="en-US" sz="2800" b="1" dirty="0"/>
              <a:t>4%</a:t>
            </a:r>
            <a:r>
              <a:rPr lang="en-US" sz="2800" dirty="0"/>
              <a:t> of total sales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52146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8205-68BE-A309-2CDA-DC64B67F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379412"/>
            <a:ext cx="1051560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Recommendations for improvement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1BF3FC-0BAB-DDF5-E90B-1A86B17E3A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72531"/>
            <a:ext cx="10515600" cy="405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1. Focus on Best-Sellers</a:t>
            </a:r>
          </a:p>
          <a:p>
            <a:pPr algn="just"/>
            <a:r>
              <a:rPr lang="en-US" sz="2400" b="1" dirty="0">
                <a:solidFill>
                  <a:sysClr val="windowText" lastClr="000000"/>
                </a:solidFill>
              </a:rPr>
              <a:t>Sell more Laptops, Phones, and TVs.</a:t>
            </a:r>
            <a:r>
              <a:rPr lang="en-US" sz="2400" dirty="0">
                <a:solidFill>
                  <a:sysClr val="windowText" lastClr="000000"/>
                </a:solidFill>
              </a:rPr>
              <a:t> These items make the </a:t>
            </a:r>
            <a:r>
              <a:rPr lang="en-US" sz="2400" b="1" dirty="0">
                <a:solidFill>
                  <a:sysClr val="windowText" lastClr="000000"/>
                </a:solidFill>
              </a:rPr>
              <a:t>most money</a:t>
            </a:r>
            <a:r>
              <a:rPr lang="en-US" sz="2400" dirty="0">
                <a:solidFill>
                  <a:sysClr val="windowText" lastClr="000000"/>
                </a:solidFill>
              </a:rPr>
              <a:t>, so we should spend more time </a:t>
            </a:r>
            <a:r>
              <a:rPr lang="en-US" sz="2400" b="1" dirty="0">
                <a:solidFill>
                  <a:sysClr val="windowText" lastClr="000000"/>
                </a:solidFill>
              </a:rPr>
              <a:t>marketing </a:t>
            </a:r>
            <a:r>
              <a:rPr lang="en-US" sz="2400" dirty="0">
                <a:solidFill>
                  <a:sysClr val="windowText" lastClr="000000"/>
                </a:solidFill>
              </a:rPr>
              <a:t>them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2. Improve Weaker Regions</a:t>
            </a:r>
          </a:p>
          <a:p>
            <a:pPr algn="just"/>
            <a:r>
              <a:rPr lang="en-US" sz="2400" b="1" dirty="0">
                <a:solidFill>
                  <a:sysClr val="windowText" lastClr="000000"/>
                </a:solidFill>
              </a:rPr>
              <a:t>Help the South and North regions sell more.</a:t>
            </a:r>
            <a:r>
              <a:rPr lang="en-US" sz="2400" dirty="0">
                <a:solidFill>
                  <a:sysClr val="windowText" lastClr="000000"/>
                </a:solidFill>
              </a:rPr>
              <a:t> Since they are </a:t>
            </a:r>
            <a:r>
              <a:rPr lang="en-US" sz="2400" b="1" dirty="0">
                <a:solidFill>
                  <a:sysClr val="windowText" lastClr="000000"/>
                </a:solidFill>
              </a:rPr>
              <a:t>selling less </a:t>
            </a:r>
            <a:r>
              <a:rPr lang="en-US" sz="2400" dirty="0">
                <a:solidFill>
                  <a:sysClr val="windowText" lastClr="000000"/>
                </a:solidFill>
              </a:rPr>
              <a:t>than the East and West, we should run </a:t>
            </a:r>
            <a:r>
              <a:rPr lang="en-US" sz="2400" b="1" dirty="0">
                <a:solidFill>
                  <a:sysClr val="windowText" lastClr="000000"/>
                </a:solidFill>
              </a:rPr>
              <a:t>special promotions</a:t>
            </a:r>
            <a:r>
              <a:rPr lang="en-US" sz="2400" dirty="0">
                <a:solidFill>
                  <a:sysClr val="windowText" lastClr="000000"/>
                </a:solidFill>
              </a:rPr>
              <a:t> there to boost their numbers.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3. Fix the Accessories Strategy</a:t>
            </a:r>
          </a:p>
          <a:p>
            <a:pPr algn="just"/>
            <a:r>
              <a:rPr lang="en-US" sz="2400" b="1" dirty="0">
                <a:solidFill>
                  <a:sysClr val="windowText" lastClr="000000"/>
                </a:solidFill>
              </a:rPr>
              <a:t>Change how we sell accessories.</a:t>
            </a:r>
            <a:r>
              <a:rPr lang="en-US" sz="2400" dirty="0">
                <a:solidFill>
                  <a:sysClr val="windowText" lastClr="000000"/>
                </a:solidFill>
              </a:rPr>
              <a:t> Since they have </a:t>
            </a:r>
            <a:r>
              <a:rPr lang="en-US" sz="2400" b="1" dirty="0">
                <a:solidFill>
                  <a:sysClr val="windowText" lastClr="000000"/>
                </a:solidFill>
              </a:rPr>
              <a:t>low profits</a:t>
            </a:r>
            <a:r>
              <a:rPr lang="en-US" sz="2400" dirty="0">
                <a:solidFill>
                  <a:sysClr val="windowText" lastClr="000000"/>
                </a:solidFill>
              </a:rPr>
              <a:t>, try selling them as a </a:t>
            </a:r>
            <a:r>
              <a:rPr lang="en-US" sz="2400" b="1" dirty="0">
                <a:solidFill>
                  <a:sysClr val="windowText" lastClr="000000"/>
                </a:solidFill>
              </a:rPr>
              <a:t>package deal </a:t>
            </a:r>
            <a:r>
              <a:rPr lang="en-US" sz="2400" dirty="0">
                <a:solidFill>
                  <a:sysClr val="windowText" lastClr="000000"/>
                </a:solidFill>
              </a:rPr>
              <a:t>with expensive items (like laptops) or stop selling the ones that don't make money</a:t>
            </a:r>
          </a:p>
        </p:txBody>
      </p:sp>
    </p:spTree>
    <p:extLst>
      <p:ext uri="{BB962C8B-B14F-4D97-AF65-F5344CB8AC3E}">
        <p14:creationId xmlns:p14="http://schemas.microsoft.com/office/powerpoint/2010/main" val="25667454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CD63D-ABDE-6B81-B47E-4CC479D4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289"/>
            <a:ext cx="1051560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</a:rPr>
              <a:t>Conclusion</a:t>
            </a:r>
            <a:endParaRPr lang="en-US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5A5A20-8B3C-4EB7-0C1F-973EE7C5D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05806"/>
            <a:ext cx="10763250" cy="3448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ysClr val="windowText" lastClr="000000"/>
                </a:solidFill>
              </a:rPr>
              <a:t>We made good money (</a:t>
            </a:r>
            <a:r>
              <a:rPr lang="en-US" b="1" dirty="0">
                <a:solidFill>
                  <a:sysClr val="windowText" lastClr="000000"/>
                </a:solidFill>
              </a:rPr>
              <a:t>40% profit</a:t>
            </a:r>
            <a:r>
              <a:rPr lang="en-US" dirty="0">
                <a:solidFill>
                  <a:sysClr val="windowText" lastClr="000000"/>
                </a:solidFill>
              </a:rPr>
              <a:t>), but we have two problems: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We depend too much on </a:t>
            </a:r>
            <a:r>
              <a:rPr lang="en-US" b="1" dirty="0">
                <a:solidFill>
                  <a:sysClr val="windowText" lastClr="000000"/>
                </a:solidFill>
              </a:rPr>
              <a:t>Laptops</a:t>
            </a:r>
            <a:r>
              <a:rPr lang="en-US" dirty="0">
                <a:solidFill>
                  <a:sysClr val="windowText" lastClr="000000"/>
                </a:solidFill>
              </a:rPr>
              <a:t> and the </a:t>
            </a:r>
            <a:r>
              <a:rPr lang="en-US" b="1" dirty="0">
                <a:solidFill>
                  <a:sysClr val="windowText" lastClr="000000"/>
                </a:solidFill>
              </a:rPr>
              <a:t>East</a:t>
            </a:r>
            <a:r>
              <a:rPr lang="en-US" dirty="0">
                <a:solidFill>
                  <a:sysClr val="windowText" lastClr="000000"/>
                </a:solidFill>
              </a:rPr>
              <a:t> area.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Sales are very weak in </a:t>
            </a:r>
            <a:r>
              <a:rPr lang="en-US" b="1" dirty="0">
                <a:solidFill>
                  <a:sysClr val="windowText" lastClr="000000"/>
                </a:solidFill>
              </a:rPr>
              <a:t>March/June</a:t>
            </a:r>
            <a:r>
              <a:rPr lang="en-US" dirty="0">
                <a:solidFill>
                  <a:sysClr val="windowText" lastClr="000000"/>
                </a:solidFill>
              </a:rPr>
              <a:t> and the </a:t>
            </a:r>
            <a:r>
              <a:rPr lang="en-US" b="1" dirty="0">
                <a:solidFill>
                  <a:sysClr val="windowText" lastClr="000000"/>
                </a:solidFill>
              </a:rPr>
              <a:t>South/North</a:t>
            </a:r>
            <a:r>
              <a:rPr lang="en-US" dirty="0">
                <a:solidFill>
                  <a:sysClr val="windowText" lastClr="000000"/>
                </a:solidFill>
              </a:rPr>
              <a:t> areas.</a:t>
            </a:r>
          </a:p>
          <a:p>
            <a:r>
              <a:rPr lang="en-US" b="1" dirty="0">
                <a:solidFill>
                  <a:sysClr val="windowText" lastClr="000000"/>
                </a:solidFill>
              </a:rPr>
              <a:t>What we need to do:</a:t>
            </a:r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b="1" dirty="0">
                <a:solidFill>
                  <a:sysClr val="windowText" lastClr="000000"/>
                </a:solidFill>
              </a:rPr>
              <a:t>Spend money</a:t>
            </a:r>
            <a:r>
              <a:rPr lang="en-US" dirty="0">
                <a:solidFill>
                  <a:sysClr val="windowText" lastClr="000000"/>
                </a:solidFill>
              </a:rPr>
              <a:t> on special offers to fix the weak months and help the weak areas.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672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0153F2-6E3A-13BC-B3BD-8C01C0E9E230}"/>
              </a:ext>
            </a:extLst>
          </p:cNvPr>
          <p:cNvSpPr txBox="1"/>
          <p:nvPr/>
        </p:nvSpPr>
        <p:spPr>
          <a:xfrm>
            <a:off x="368710" y="2168013"/>
            <a:ext cx="7801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Franklin Gothic Heavy" panose="020B0903020102020204" pitchFamily="34" charset="0"/>
                <a:ea typeface="+mj-ea"/>
                <a:cs typeface="+mj-cs"/>
              </a:rPr>
              <a:t>THANK YOU…</a:t>
            </a:r>
            <a:endParaRPr lang="en-IN" sz="5400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Franklin Gothic Heavy" panose="020B0903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815065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997</TotalTime>
  <Words>755</Words>
  <Application>Microsoft Office PowerPoint</Application>
  <PresentationFormat>Widescreen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Franklin Gothic Heavy</vt:lpstr>
      <vt:lpstr>Gill Sans MT</vt:lpstr>
      <vt:lpstr>Gill Sans Ultra Bold</vt:lpstr>
      <vt:lpstr>Inter</vt:lpstr>
      <vt:lpstr>Oswald</vt:lpstr>
      <vt:lpstr>Wingdings</vt:lpstr>
      <vt:lpstr>Office 2013 - 2022 Theme</vt:lpstr>
      <vt:lpstr>TECH VISION ELECTRONICS PVT. LTD.</vt:lpstr>
      <vt:lpstr>DATA SOURCE</vt:lpstr>
      <vt:lpstr>OBJECTIVES</vt:lpstr>
      <vt:lpstr>KEY INSIGHTS </vt:lpstr>
      <vt:lpstr>OVERALL ANALYSIS:</vt:lpstr>
      <vt:lpstr>MONTHLY SALES</vt:lpstr>
      <vt:lpstr>REGIONAL SALES PERFORMANCE</vt:lpstr>
      <vt:lpstr>PRODUCT PERFORMANCE</vt:lpstr>
      <vt:lpstr>Recommendations for improvement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WEC</dc:creator>
  <cp:lastModifiedBy>Rumman Siddiqui</cp:lastModifiedBy>
  <cp:revision>44</cp:revision>
  <dcterms:created xsi:type="dcterms:W3CDTF">2025-12-02T16:15:46Z</dcterms:created>
  <dcterms:modified xsi:type="dcterms:W3CDTF">2025-12-09T17:32:19Z</dcterms:modified>
</cp:coreProperties>
</file>